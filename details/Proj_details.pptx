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2"/>
    <p:sldId id="350" r:id="rId3"/>
    <p:sldId id="351" r:id="rId4"/>
    <p:sldId id="352" r:id="rId5"/>
    <p:sldId id="353" r:id="rId6"/>
    <p:sldId id="31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sit" initials="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9C237-22B3-3C9C-B9F9-74E31EBDF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3B38E-596F-C7C0-F554-1FF36ED2F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4215D-D3CA-BFA9-26C4-9CBE6EB0E54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61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6E3C-8E30-B94F-80DC-82F18B35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5C5330-EEA0-9446-8830-137A5A5ED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A8F1C-5E97-C18E-51BF-1D3F77EC5B5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17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2BD4F-71AC-84DC-A7D7-669DA1A2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06874-DE92-67DE-A53D-746627409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AEDC7-82BF-F224-57DB-E4796E04E097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09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1CC69-45D1-513A-3F43-82A7C322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D29CA-066D-C1C7-3BAC-3F8E0D87AF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6240CA-E141-D387-0AF7-0D695F94E39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46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jpeg"/><Relationship Id="rId4" Type="http://schemas.openxmlformats.org/officeDocument/2006/relationships/hyperlink" Target="https://www.kaggle.com/datasets/johnsmith88/heart-disease-datase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>
            <a:cxnSpLocks/>
          </p:cNvCxnSpPr>
          <p:nvPr/>
        </p:nvCxnSpPr>
        <p:spPr>
          <a:xfrm>
            <a:off x="4181928" y="2770577"/>
            <a:ext cx="7322500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181928" y="2988643"/>
            <a:ext cx="4250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SRN : PES1PG25CA081</a:t>
            </a:r>
            <a:endParaRPr lang="en-IN" sz="2400" b="1" dirty="0"/>
          </a:p>
        </p:txBody>
      </p:sp>
      <p:sp>
        <p:nvSpPr>
          <p:cNvPr id="17" name="Rectangle 16"/>
          <p:cNvSpPr/>
          <p:nvPr/>
        </p:nvSpPr>
        <p:spPr>
          <a:xfrm>
            <a:off x="4181928" y="3541914"/>
            <a:ext cx="4250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Name: Hema Shree A</a:t>
            </a:r>
            <a:endParaRPr lang="en-IN" sz="2400" b="1" dirty="0"/>
          </a:p>
        </p:txBody>
      </p:sp>
      <p:grpSp>
        <p:nvGrpSpPr>
          <p:cNvPr id="23" name="Group 22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4049877" y="1943716"/>
            <a:ext cx="78524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/>
                </a:solidFill>
              </a:rPr>
              <a:t>Heart Disease Prediction</a:t>
            </a:r>
            <a:endParaRPr lang="en-IN" sz="3200" b="1" dirty="0">
              <a:solidFill>
                <a:schemeClr val="accent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720" y="1886067"/>
            <a:ext cx="2286000" cy="375310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5BFDB9-7898-0C99-2B65-4373F301D6DB}"/>
              </a:ext>
            </a:extLst>
          </p:cNvPr>
          <p:cNvSpPr/>
          <p:nvPr/>
        </p:nvSpPr>
        <p:spPr>
          <a:xfrm>
            <a:off x="4181928" y="4095186"/>
            <a:ext cx="78524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Project Domain: </a:t>
            </a:r>
            <a:r>
              <a:rPr lang="en-US" sz="2400" b="1" dirty="0">
                <a:cs typeface="Times New Roman" panose="02020603050405020304" charset="0"/>
              </a:rPr>
              <a:t>Section B </a:t>
            </a:r>
            <a:r>
              <a:rPr lang="en-US" sz="2400" b="1" dirty="0"/>
              <a:t>– </a:t>
            </a:r>
            <a:r>
              <a:rPr lang="en-US" sz="2400" b="1" dirty="0">
                <a:cs typeface="Times New Roman" panose="02020603050405020304" charset="0"/>
              </a:rPr>
              <a:t>Health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13C55E-8772-6FA2-9445-F51557127FC5}"/>
              </a:ext>
            </a:extLst>
          </p:cNvPr>
          <p:cNvSpPr/>
          <p:nvPr/>
        </p:nvSpPr>
        <p:spPr>
          <a:xfrm>
            <a:off x="4181928" y="4648457"/>
            <a:ext cx="65834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Goal: SDG 3 — Good Health and Well Being</a:t>
            </a:r>
            <a:endParaRPr lang="en-IN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1A4F1-6604-EC8D-938B-93B7D1F8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251FB2-999F-55CC-4BB5-3848E22526C0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Abstract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F19B87-3837-FB58-D3F6-55531456534D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2E2ACE-9F4A-51A8-C68E-F9A614701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E462E6B9-EFDF-B39D-F5CF-F02D1B31858F}"/>
              </a:ext>
            </a:extLst>
          </p:cNvPr>
          <p:cNvSpPr txBox="1"/>
          <p:nvPr/>
        </p:nvSpPr>
        <p:spPr>
          <a:xfrm>
            <a:off x="494642" y="1471449"/>
            <a:ext cx="9840202" cy="46612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Heart diseases are a leading cause of death worldwide, making early prediction crucial for effective prevention and treatment.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project uses a dataset of 1025 patient records with 14 clinical features such as age, chest pain type, blood pressure, cholesterol, etc.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It predicts the presence of heart disease (0 = No, 1 = Yes).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And also categorizes patients into Low, Medium, and High-risk levels based on prediction probabilities.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proposed system helps in early diagnosis and supports timely medical intervention.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project contributes to improved healthcare decision-making and aligns with SDG Goal 3 (Good Health and Well-being).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AC51183D-39D7-C8BD-52E9-641E1A071EE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333FB6-F32E-E0CB-3297-9E8762B6437D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88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246B-BF2F-742D-9C09-F34891734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25E7888-E4C1-F92E-52D9-6D0C8B70E3C2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Dataset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BBEBE4-41BD-7C0A-F900-D93D387A1AC7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5BEB55-3C51-D9DF-1F40-B79B3E269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23486610-E4FC-3847-C585-79135FB4C4DD}"/>
              </a:ext>
            </a:extLst>
          </p:cNvPr>
          <p:cNvSpPr txBox="1"/>
          <p:nvPr/>
        </p:nvSpPr>
        <p:spPr>
          <a:xfrm>
            <a:off x="494641" y="1471450"/>
            <a:ext cx="10016043" cy="44947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cs typeface="Times New Roman" panose="02020603050405020304" charset="0"/>
              </a:rPr>
              <a:t>Source URL: </a:t>
            </a:r>
            <a:br>
              <a:rPr lang="en-US" sz="2400" dirty="0">
                <a:cs typeface="Times New Roman" panose="02020603050405020304" charset="0"/>
              </a:rPr>
            </a:br>
            <a:r>
              <a:rPr lang="en-US" sz="2400" dirty="0">
                <a:cs typeface="Times New Roman" panose="02020603050405020304" charset="0"/>
                <a:hlinkClick r:id="rId4"/>
              </a:rPr>
              <a:t>https://www.kaggle.com/datasets/johnsmith88/heart-disease-dataset</a:t>
            </a:r>
            <a:endParaRPr lang="en-US" sz="2400" dirty="0">
              <a:cs typeface="Times New Roman" panose="02020603050405020304" charset="0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cs typeface="Times New Roman" panose="02020603050405020304" charset="0"/>
              </a:rPr>
              <a:t>Dataset Name: </a:t>
            </a:r>
            <a:r>
              <a:rPr lang="en-IN" sz="2400" dirty="0"/>
              <a:t>Heart Disease Dataset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cs typeface="Times New Roman" panose="02020603050405020304" charset="0"/>
              </a:rPr>
              <a:t>Size / Shape</a:t>
            </a:r>
            <a:r>
              <a:rPr lang="en-US" sz="2400" dirty="0">
                <a:cs typeface="Times New Roman" panose="02020603050405020304" charset="0"/>
              </a:rPr>
              <a:t>: </a:t>
            </a:r>
            <a:r>
              <a:rPr lang="en-US" sz="2400" dirty="0"/>
              <a:t>1025 rows and 14 columns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cs typeface="Times New Roman" panose="02020603050405020304" charset="0"/>
              </a:rPr>
              <a:t>Simple description about the dataset</a:t>
            </a:r>
            <a:r>
              <a:rPr lang="en-US" sz="2400" dirty="0">
                <a:cs typeface="Times New Roman" panose="02020603050405020304" charset="0"/>
              </a:rPr>
              <a:t>: </a:t>
            </a: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Dataset contains clinical details of patients such as Age, Sex, Chest Pain Type, Resting Blood Pressure, Cholesterol, Fasting Blood Sugar, ECG Results, Maximum Heart Rate, Exercise-Induced Angina, ST Depression (</a:t>
            </a:r>
            <a:r>
              <a:rPr lang="en-US" sz="2400" dirty="0" err="1"/>
              <a:t>oldpeak</a:t>
            </a:r>
            <a:r>
              <a:rPr lang="en-US" sz="2400" dirty="0"/>
              <a:t>), Slope of ST segment, Number of Major Vessels, and Thalassemia. The target column indicates the presence of heart disease (0 = No, 1 = Yes).</a:t>
            </a:r>
            <a:endParaRPr lang="en-US" sz="2400" dirty="0">
              <a:cs typeface="Times New Roman" panose="02020603050405020304" charset="0"/>
            </a:endParaRP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F58FD939-7943-A729-0D08-7BC35DCB506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E22C4B-22A6-63B2-5E38-EC125E2B3C06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200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D03F5-D5A0-717A-136F-3A42CEC9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120C3B-2131-DEBF-467A-139D39121C6A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Dataset Snapshot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594E3C-205B-42F1-42E0-5C1ADC7C885B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9CF9AA-DF11-7270-45BC-D755ABEFD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B22161C6-41A0-12A1-7A4C-24717E237D8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873E39-DA4F-0C69-8C0E-ACA5B270B292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0C084E7-1080-67D8-BC5E-CB1F553460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624" y="1402989"/>
            <a:ext cx="8931821" cy="509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26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23BDF-7B20-58FA-24C9-7FFB4B938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B8FE261-9FEF-CC07-20A2-445EF2020F12}"/>
              </a:ext>
            </a:extLst>
          </p:cNvPr>
          <p:cNvSpPr/>
          <p:nvPr/>
        </p:nvSpPr>
        <p:spPr>
          <a:xfrm>
            <a:off x="361370" y="653530"/>
            <a:ext cx="799975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600" b="1" dirty="0">
                <a:solidFill>
                  <a:schemeClr val="accent2">
                    <a:lumMod val="75000"/>
                  </a:schemeClr>
                </a:solidFill>
              </a:rPr>
              <a:t>Methodology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FA2A4A-EDA7-B9F5-7C33-8489FF3D3C93}"/>
              </a:ext>
            </a:extLst>
          </p:cNvPr>
          <p:cNvSpPr/>
          <p:nvPr/>
        </p:nvSpPr>
        <p:spPr>
          <a:xfrm>
            <a:off x="361370" y="162040"/>
            <a:ext cx="6440170" cy="49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AIML</a:t>
            </a:r>
            <a:endParaRPr lang="en-US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5736D9-8354-E12C-AB0F-16712A56D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3452" y="407539"/>
            <a:ext cx="849665" cy="1428531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62D64CA4-34E4-BCD9-22CA-AE4AB6092FB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986135" y="5732145"/>
            <a:ext cx="1205865" cy="112585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731B4A-22E7-804B-9EE1-E1F83D409AD5}"/>
              </a:ext>
            </a:extLst>
          </p:cNvPr>
          <p:cNvCxnSpPr>
            <a:cxnSpLocks/>
          </p:cNvCxnSpPr>
          <p:nvPr/>
        </p:nvCxnSpPr>
        <p:spPr>
          <a:xfrm>
            <a:off x="-10636" y="1146151"/>
            <a:ext cx="10345479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>
            <a:extLst>
              <a:ext uri="{FF2B5EF4-FFF2-40B4-BE49-F238E27FC236}">
                <a16:creationId xmlns:a16="http://schemas.microsoft.com/office/drawing/2014/main" id="{6D4815FD-3D35-4F25-CA47-51F1E455D299}"/>
              </a:ext>
            </a:extLst>
          </p:cNvPr>
          <p:cNvSpPr txBox="1"/>
          <p:nvPr/>
        </p:nvSpPr>
        <p:spPr>
          <a:xfrm>
            <a:off x="494641" y="1471450"/>
            <a:ext cx="9840202" cy="44670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Learning Type: Supervised Learning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What are you trying to do: </a:t>
            </a:r>
            <a:r>
              <a:rPr lang="en-US" sz="2400" dirty="0"/>
              <a:t>Prediction (predicting the presence of heart disease as a binary outcome: 0 = No, 1 = Yes).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What is your choice of Algorithms (tentative) :</a:t>
            </a:r>
            <a:r>
              <a:rPr lang="en-IN" sz="2400" dirty="0"/>
              <a:t> </a:t>
            </a:r>
            <a:r>
              <a:rPr lang="en-US" sz="2400" dirty="0"/>
              <a:t>Random Forest Classifier (Primary), Logistic Regression and Support Vector Machine (SVM) for comparison.</a:t>
            </a:r>
            <a:endParaRPr lang="en-US" sz="2400" dirty="0">
              <a:cs typeface="Times New Roman" panose="0202060305040502030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UI Tool (tentative): </a:t>
            </a:r>
            <a:r>
              <a:rPr lang="en-IN" sz="2400" dirty="0"/>
              <a:t>Flask / </a:t>
            </a:r>
            <a:r>
              <a:rPr lang="en-IN" sz="2400" dirty="0" err="1"/>
              <a:t>Gradio</a:t>
            </a:r>
            <a:r>
              <a:rPr lang="en-US" sz="2400" dirty="0">
                <a:cs typeface="Times New Roman" panose="02020603050405020304" charset="0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cs typeface="Times New Roman" panose="02020603050405020304" charset="0"/>
              </a:rPr>
              <a:t>Cloud Platform (tentative): AWS / </a:t>
            </a:r>
            <a:r>
              <a:rPr lang="en-IN" sz="2400" dirty="0"/>
              <a:t>Google </a:t>
            </a:r>
            <a:r>
              <a:rPr lang="en-IN" sz="2400" dirty="0" err="1"/>
              <a:t>Colab</a:t>
            </a:r>
            <a:r>
              <a:rPr lang="en-IN" sz="2400" dirty="0"/>
              <a:t> </a:t>
            </a:r>
            <a:endParaRPr lang="en-US" sz="2400" dirty="0">
              <a:cs typeface="Times New Roman" panose="020206030504050203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912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V="1">
            <a:off x="4287946" y="3935312"/>
            <a:ext cx="4581449" cy="1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5223612" y="3015532"/>
            <a:ext cx="27401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360" y="1702366"/>
            <a:ext cx="2306319" cy="35484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341</Words>
  <Application>Microsoft Office PowerPoint</Application>
  <PresentationFormat>Widescreen</PresentationFormat>
  <Paragraphs>30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Sai Atul G.G</dc:creator>
  <cp:lastModifiedBy>RR MCA 1B 2025 HEMASHREE A</cp:lastModifiedBy>
  <cp:revision>58</cp:revision>
  <dcterms:created xsi:type="dcterms:W3CDTF">2024-06-03T11:28:00Z</dcterms:created>
  <dcterms:modified xsi:type="dcterms:W3CDTF">2026-03-24T18:15:02Z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2D8CA44053184DF99CAFC51225B126E6_13</vt:lpwstr>
  </property>
  <property fmtid="{D5CDD505-2E9C-101B-9397-08002B2CF9AE}" pid="3" name="KSOProductBuildVer">
    <vt:lpwstr>1033-12.2.0.16909</vt:lpwstr>
  </property>
</Properties>
</file>